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43891200"/>
  <p:notesSz cx="438912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3FF"/>
        </a:solidFill>
      </p:bgPr>
    </p:bg>
    <p:spTree>
      <p:nvGrpSpPr>
        <p:cNvPr id="1" name=""/>
        <p:cNvGrpSpPr/>
        <p:nvPr/>
      </p:nvGrpSpPr>
      <p:grpSpPr>
        <a:xfrm>
          <a:off x="0" y="0"/>
          <a:ext cx="0" cy="0"/>
          <a:chOff x="0" y="0"/>
          <a:chExt cx="0" cy="0"/>
        </a:xfrm>
      </p:grpSpPr>
      <p:sp>
        <p:nvSpPr>
          <p:cNvPr id="2" name="Shape 0"/>
          <p:cNvSpPr/>
          <p:nvPr/>
        </p:nvSpPr>
        <p:spPr>
          <a:xfrm>
            <a:off x="0" y="0"/>
            <a:ext cx="32918400" cy="5943600"/>
          </a:xfrm>
          <a:prstGeom prst="rect">
            <a:avLst/>
          </a:prstGeom>
          <a:solidFill>
            <a:srgbClr val="1E1B3A"/>
          </a:solidFill>
          <a:ln/>
        </p:spPr>
      </p:sp>
      <p:sp>
        <p:nvSpPr>
          <p:cNvPr id="3" name="Text 1"/>
          <p:cNvSpPr/>
          <p:nvPr/>
        </p:nvSpPr>
        <p:spPr>
          <a:xfrm>
            <a:off x="1371600" y="640080"/>
            <a:ext cx="30175200" cy="2103120"/>
          </a:xfrm>
          <a:prstGeom prst="rect">
            <a:avLst/>
          </a:prstGeom>
          <a:noFill/>
          <a:ln/>
        </p:spPr>
        <p:txBody>
          <a:bodyPr wrap="square" rtlCol="0" anchor="ctr"/>
          <a:lstStyle/>
          <a:p>
            <a:pPr algn="ctr" indent="0" marL="0">
              <a:buNone/>
            </a:pPr>
            <a:r>
              <a:rPr lang="en-US" sz="10000" b="1" spc="1000" kern="0" dirty="0">
                <a:solidFill>
                  <a:srgbClr val="FFFFFF"/>
                </a:solidFill>
                <a:latin typeface="Georgia" pitchFamily="34" charset="0"/>
                <a:ea typeface="Georgia" pitchFamily="34" charset="-122"/>
                <a:cs typeface="Georgia" pitchFamily="34" charset="-120"/>
              </a:rPr>
              <a:t>LUNARA</a:t>
            </a:r>
            <a:endParaRPr lang="en-US" sz="10000" dirty="0"/>
          </a:p>
        </p:txBody>
      </p:sp>
      <p:sp>
        <p:nvSpPr>
          <p:cNvPr id="4" name="Text 2"/>
          <p:cNvSpPr/>
          <p:nvPr/>
        </p:nvSpPr>
        <p:spPr>
          <a:xfrm>
            <a:off x="1371600" y="2606040"/>
            <a:ext cx="30175200" cy="822960"/>
          </a:xfrm>
          <a:prstGeom prst="rect">
            <a:avLst/>
          </a:prstGeom>
          <a:noFill/>
          <a:ln/>
        </p:spPr>
        <p:txBody>
          <a:bodyPr wrap="square" rtlCol="0" anchor="ctr"/>
          <a:lstStyle/>
          <a:p>
            <a:pPr algn="ctr" indent="0" marL="0">
              <a:buNone/>
            </a:pPr>
            <a:r>
              <a:rPr lang="en-US" sz="3400" i="1" dirty="0">
                <a:solidFill>
                  <a:srgbClr val="C4B5FD"/>
                </a:solidFill>
                <a:latin typeface="Georgia" pitchFamily="34" charset="0"/>
                <a:ea typeface="Georgia" pitchFamily="34" charset="-122"/>
                <a:cs typeface="Georgia" pitchFamily="34" charset="-120"/>
              </a:rPr>
              <a:t>A Postpartum Support Platform</a:t>
            </a:r>
            <a:endParaRPr lang="en-US" sz="3400" dirty="0"/>
          </a:p>
        </p:txBody>
      </p:sp>
      <p:sp>
        <p:nvSpPr>
          <p:cNvPr id="5" name="Text 3"/>
          <p:cNvSpPr/>
          <p:nvPr/>
        </p:nvSpPr>
        <p:spPr>
          <a:xfrm>
            <a:off x="1371600" y="3749040"/>
            <a:ext cx="30175200" cy="64008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Owen Lindsey   |   Carter Wright   |   Andrew Mack</a:t>
            </a:r>
            <a:endParaRPr lang="en-US" sz="2200" dirty="0"/>
          </a:p>
        </p:txBody>
      </p:sp>
      <p:sp>
        <p:nvSpPr>
          <p:cNvPr id="6" name="Text 4"/>
          <p:cNvSpPr/>
          <p:nvPr/>
        </p:nvSpPr>
        <p:spPr>
          <a:xfrm>
            <a:off x="1371600" y="4480560"/>
            <a:ext cx="30175200" cy="548640"/>
          </a:xfrm>
          <a:prstGeom prst="rect">
            <a:avLst/>
          </a:prstGeom>
          <a:noFill/>
          <a:ln/>
        </p:spPr>
        <p:txBody>
          <a:bodyPr wrap="square" rtlCol="0" anchor="ctr"/>
          <a:lstStyle/>
          <a:p>
            <a:pPr algn="ctr" indent="0" marL="0">
              <a:buNone/>
            </a:pPr>
            <a:r>
              <a:rPr lang="en-US" sz="1700" dirty="0">
                <a:solidFill>
                  <a:srgbClr val="C4B5FD"/>
                </a:solidFill>
                <a:latin typeface="Calibri" pitchFamily="34" charset="0"/>
                <a:ea typeface="Calibri" pitchFamily="34" charset="-122"/>
                <a:cs typeface="Calibri" pitchFamily="34" charset="-120"/>
              </a:rPr>
              <a:t>Grand Canyon University   •   College of Engineering &amp; Technology   •   CST-452 Senior Capstone</a:t>
            </a:r>
            <a:endParaRPr lang="en-US" sz="1700" dirty="0"/>
          </a:p>
        </p:txBody>
      </p:sp>
      <p:sp>
        <p:nvSpPr>
          <p:cNvPr id="7" name="Text 5"/>
          <p:cNvSpPr/>
          <p:nvPr/>
        </p:nvSpPr>
        <p:spPr>
          <a:xfrm>
            <a:off x="1371600" y="5074920"/>
            <a:ext cx="30175200" cy="457200"/>
          </a:xfrm>
          <a:prstGeom prst="rect">
            <a:avLst/>
          </a:prstGeom>
          <a:noFill/>
          <a:ln/>
        </p:spPr>
        <p:txBody>
          <a:bodyPr wrap="square" rtlCol="0" anchor="ctr"/>
          <a:lstStyle/>
          <a:p>
            <a:pPr algn="ctr" indent="0" marL="0">
              <a:buNone/>
            </a:pPr>
            <a:r>
              <a:rPr lang="en-US" sz="1600" dirty="0">
                <a:solidFill>
                  <a:srgbClr val="9CA3AF"/>
                </a:solidFill>
                <a:latin typeface="Calibri" pitchFamily="34" charset="0"/>
                <a:ea typeface="Calibri" pitchFamily="34" charset="-122"/>
                <a:cs typeface="Calibri" pitchFamily="34" charset="-120"/>
              </a:rPr>
              <a:t>lunaracare.org</a:t>
            </a:r>
            <a:endParaRPr lang="en-US" sz="1600" dirty="0"/>
          </a:p>
        </p:txBody>
      </p:sp>
      <p:sp>
        <p:nvSpPr>
          <p:cNvPr id="8" name="Shape 6"/>
          <p:cNvSpPr/>
          <p:nvPr/>
        </p:nvSpPr>
        <p:spPr>
          <a:xfrm>
            <a:off x="914400" y="6400800"/>
            <a:ext cx="10027920" cy="105156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sp>
        <p:nvSpPr>
          <p:cNvPr id="9" name="Text 7"/>
          <p:cNvSpPr/>
          <p:nvPr/>
        </p:nvSpPr>
        <p:spPr>
          <a:xfrm>
            <a:off x="1325880" y="6675120"/>
            <a:ext cx="9204960" cy="548640"/>
          </a:xfrm>
          <a:prstGeom prst="rect">
            <a:avLst/>
          </a:prstGeom>
          <a:noFill/>
          <a:ln/>
        </p:spPr>
        <p:txBody>
          <a:bodyPr wrap="square" lIns="0" tIns="0" rIns="0" bIns="0" rtlCol="0" anchor="ctr"/>
          <a:lstStyle/>
          <a:p>
            <a:pPr indent="0" marL="0">
              <a:buNone/>
            </a:pPr>
            <a:r>
              <a:rPr lang="en-US" sz="1900" b="1" spc="300" kern="0" dirty="0">
                <a:solidFill>
                  <a:srgbClr val="6D28D9"/>
                </a:solidFill>
                <a:latin typeface="Calibri" pitchFamily="34" charset="0"/>
                <a:ea typeface="Calibri" pitchFamily="34" charset="-122"/>
                <a:cs typeface="Calibri" pitchFamily="34" charset="-120"/>
              </a:rPr>
              <a:t>PROJECT DESCRIPTION &amp; JUSTIFICATION</a:t>
            </a:r>
            <a:endParaRPr lang="en-US" sz="1900" dirty="0"/>
          </a:p>
        </p:txBody>
      </p:sp>
      <p:sp>
        <p:nvSpPr>
          <p:cNvPr id="10" name="Text 8"/>
          <p:cNvSpPr/>
          <p:nvPr/>
        </p:nvSpPr>
        <p:spPr>
          <a:xfrm>
            <a:off x="1325880" y="7406640"/>
            <a:ext cx="9204960" cy="9235440"/>
          </a:xfrm>
          <a:prstGeom prst="rect">
            <a:avLst/>
          </a:prstGeom>
          <a:noFill/>
          <a:ln/>
        </p:spPr>
        <p:txBody>
          <a:bodyPr wrap="square" lIns="0" tIns="0" rIns="0" bIns="0" rtlCol="0" anchor="t"/>
          <a:lstStyle/>
          <a:p>
            <a:pPr indent="0" marL="0">
              <a:lnSpc>
                <a:spcPct val="130000"/>
              </a:lnSpc>
              <a:spcAft>
                <a:spcPts val="600"/>
              </a:spcAft>
              <a:buNone/>
            </a:pPr>
            <a:r>
              <a:rPr lang="en-US" sz="1600" b="1" dirty="0">
                <a:solidFill>
                  <a:srgbClr val="111827"/>
                </a:solidFill>
              </a:rPr>
              <a:t>Project Description
</a:t>
            </a:r>
            <a:endParaRPr lang="en-US" sz="1600" dirty="0"/>
          </a:p>
          <a:p>
            <a:pPr indent="0" marL="0">
              <a:lnSpc>
                <a:spcPct val="130000"/>
              </a:lnSpc>
              <a:spcAft>
                <a:spcPts val="1200"/>
              </a:spcAft>
              <a:buNone/>
            </a:pPr>
            <a:r>
              <a:rPr lang="en-US" sz="1400" dirty="0">
                <a:solidFill>
                  <a:srgbClr val="374151"/>
                </a:solidFill>
              </a:rPr>
              <a:t>LUNARA is a full-stack web application that connects postpartum mothers with certified doula providers through a unified digital platform. The system delivers structured intake assessments, daily mood and symptom check-ins with clinical alert detection, real-time messaging, appointment scheduling, personalized care plans with milestone tracking, and a curated educational resource library. Role-based access control separates the experience for Clients, Providers, and Administrators.
</a:t>
            </a:r>
            <a:endParaRPr lang="en-US" sz="1600" dirty="0"/>
          </a:p>
          <a:p>
            <a:pPr indent="0" marL="0">
              <a:lnSpc>
                <a:spcPct val="130000"/>
              </a:lnSpc>
              <a:spcAft>
                <a:spcPts val="600"/>
              </a:spcAft>
              <a:buNone/>
            </a:pPr>
            <a:r>
              <a:rPr lang="en-US" sz="1600" b="1" dirty="0">
                <a:solidFill>
                  <a:srgbClr val="111827"/>
                </a:solidFill>
              </a:rPr>
              <a:t>Project Justification
</a:t>
            </a:r>
            <a:endParaRPr lang="en-US" sz="1600" dirty="0"/>
          </a:p>
          <a:p>
            <a:pPr indent="0" marL="0">
              <a:lnSpc>
                <a:spcPct val="130000"/>
              </a:lnSpc>
              <a:spcAft>
                <a:spcPts val="800"/>
              </a:spcAft>
              <a:buNone/>
            </a:pPr>
            <a:r>
              <a:rPr lang="en-US" sz="1400" dirty="0">
                <a:solidFill>
                  <a:srgbClr val="374151"/>
                </a:solidFill>
              </a:rPr>
              <a:t>Approximately 1 in 5 mothers experience a perinatal mood or anxiety disorder, yet fewer than 15% receive adequate treatment (Maternal Mental Health Leadership Alliance, 2023). The postpartum period presents compounding barriers to care: physical recovery, sleep deprivation, and fragmented provider communication. Doula support has been shown to improve maternal outcomes, but the process of finding, vetting, and coordinating with doulas remains largely offline and inaccessible.
</a:t>
            </a:r>
            <a:endParaRPr lang="en-US" sz="1600" dirty="0"/>
          </a:p>
          <a:p>
            <a:pPr indent="0" marL="0">
              <a:lnSpc>
                <a:spcPct val="130000"/>
              </a:lnSpc>
              <a:buNone/>
            </a:pPr>
            <a:r>
              <a:rPr lang="en-US" sz="1400" dirty="0">
                <a:solidFill>
                  <a:srgbClr val="374151"/>
                </a:solidFill>
              </a:rPr>
              <a:t>LUNARA addresses this gap by centralizing the entire postpartum care workflow into a single platform. Rather than navigating disconnected tools for scheduling, messaging, and health tracking, mothers and providers interact through an integrated system designed specifically for the fourth trimester. The clinical alert system—which flags declining mood trends to providers automatically—directly targets the early detection gap that contributes to untreated postpartum depression.</a:t>
            </a:r>
            <a:endParaRPr lang="en-US" sz="1600" dirty="0"/>
          </a:p>
        </p:txBody>
      </p:sp>
      <p:sp>
        <p:nvSpPr>
          <p:cNvPr id="11" name="Shape 9"/>
          <p:cNvSpPr/>
          <p:nvPr/>
        </p:nvSpPr>
        <p:spPr>
          <a:xfrm>
            <a:off x="914400" y="17327880"/>
            <a:ext cx="10027920" cy="82296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pic>
        <p:nvPicPr>
          <p:cNvPr id="12" name="Image 0" descr="/mnt/user-data/uploads/1774387900734_image.png">    </p:cNvPr>
          <p:cNvPicPr>
            <a:picLocks noChangeAspect="1"/>
          </p:cNvPicPr>
          <p:nvPr/>
        </p:nvPicPr>
        <p:blipFill>
          <a:blip r:embed="rId1"/>
          <a:srcRect l="0" r="0" t="0" b="0"/>
          <a:stretch/>
        </p:blipFill>
        <p:spPr>
          <a:xfrm>
            <a:off x="1188720" y="17602200"/>
            <a:ext cx="9479280" cy="7360920"/>
          </a:xfrm>
          <a:prstGeom prst="rect">
            <a:avLst/>
          </a:prstGeom>
        </p:spPr>
      </p:pic>
      <p:sp>
        <p:nvSpPr>
          <p:cNvPr id="13" name="Text 10"/>
          <p:cNvSpPr/>
          <p:nvPr/>
        </p:nvSpPr>
        <p:spPr>
          <a:xfrm>
            <a:off x="1188720" y="25054560"/>
            <a:ext cx="947928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Landing Page — Public-Facing Website (FR1)</a:t>
            </a:r>
            <a:endParaRPr lang="en-US" sz="1100" dirty="0"/>
          </a:p>
        </p:txBody>
      </p:sp>
      <p:sp>
        <p:nvSpPr>
          <p:cNvPr id="14" name="Shape 11"/>
          <p:cNvSpPr/>
          <p:nvPr/>
        </p:nvSpPr>
        <p:spPr>
          <a:xfrm>
            <a:off x="914400" y="25968960"/>
            <a:ext cx="10027920" cy="82296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pic>
        <p:nvPicPr>
          <p:cNvPr id="15" name="Image 1" descr="/mnt/user-data/uploads/1774387927126_image.png">    </p:cNvPr>
          <p:cNvPicPr>
            <a:picLocks noChangeAspect="1"/>
          </p:cNvPicPr>
          <p:nvPr/>
        </p:nvPicPr>
        <p:blipFill>
          <a:blip r:embed="rId2"/>
          <a:srcRect l="0" r="0" t="0" b="0"/>
          <a:stretch/>
        </p:blipFill>
        <p:spPr>
          <a:xfrm>
            <a:off x="1188720" y="26243280"/>
            <a:ext cx="9479280" cy="7360920"/>
          </a:xfrm>
          <a:prstGeom prst="rect">
            <a:avLst/>
          </a:prstGeom>
        </p:spPr>
      </p:pic>
      <p:sp>
        <p:nvSpPr>
          <p:cNvPr id="16" name="Text 12"/>
          <p:cNvSpPr/>
          <p:nvPr/>
        </p:nvSpPr>
        <p:spPr>
          <a:xfrm>
            <a:off x="1188720" y="33695640"/>
            <a:ext cx="947928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Client Dashboard — Check-In &amp; Resource Access (FR3, FR8)</a:t>
            </a:r>
            <a:endParaRPr lang="en-US" sz="1100" dirty="0"/>
          </a:p>
        </p:txBody>
      </p:sp>
      <p:sp>
        <p:nvSpPr>
          <p:cNvPr id="17" name="Shape 13"/>
          <p:cNvSpPr/>
          <p:nvPr/>
        </p:nvSpPr>
        <p:spPr>
          <a:xfrm>
            <a:off x="11445240" y="6400800"/>
            <a:ext cx="10027920" cy="114300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sp>
        <p:nvSpPr>
          <p:cNvPr id="18" name="Text 14"/>
          <p:cNvSpPr/>
          <p:nvPr/>
        </p:nvSpPr>
        <p:spPr>
          <a:xfrm>
            <a:off x="11856720" y="6675120"/>
            <a:ext cx="9204960" cy="548640"/>
          </a:xfrm>
          <a:prstGeom prst="rect">
            <a:avLst/>
          </a:prstGeom>
          <a:noFill/>
          <a:ln/>
        </p:spPr>
        <p:txBody>
          <a:bodyPr wrap="square" lIns="0" tIns="0" rIns="0" bIns="0" rtlCol="0" anchor="ctr"/>
          <a:lstStyle/>
          <a:p>
            <a:pPr indent="0" marL="0">
              <a:buNone/>
            </a:pPr>
            <a:r>
              <a:rPr lang="en-US" sz="1900" b="1" spc="300" kern="0" dirty="0">
                <a:solidFill>
                  <a:srgbClr val="6D28D9"/>
                </a:solidFill>
                <a:latin typeface="Calibri" pitchFamily="34" charset="0"/>
                <a:ea typeface="Calibri" pitchFamily="34" charset="-122"/>
                <a:cs typeface="Calibri" pitchFamily="34" charset="-120"/>
              </a:rPr>
              <a:t>FUNCTIONAL REQUIREMENTS &amp; STANDARDS</a:t>
            </a:r>
            <a:endParaRPr lang="en-US" sz="1900" dirty="0"/>
          </a:p>
        </p:txBody>
      </p:sp>
      <p:sp>
        <p:nvSpPr>
          <p:cNvPr id="19" name="Text 15"/>
          <p:cNvSpPr/>
          <p:nvPr/>
        </p:nvSpPr>
        <p:spPr>
          <a:xfrm>
            <a:off x="11856720" y="7360920"/>
            <a:ext cx="9204960" cy="1280160"/>
          </a:xfrm>
          <a:prstGeom prst="rect">
            <a:avLst/>
          </a:prstGeom>
          <a:noFill/>
          <a:ln/>
        </p:spPr>
        <p:txBody>
          <a:bodyPr wrap="square" lIns="0" tIns="0" rIns="0" bIns="0" rtlCol="0" anchor="t"/>
          <a:lstStyle/>
          <a:p>
            <a:pPr indent="0" marL="0">
              <a:lnSpc>
                <a:spcPct val="125000"/>
              </a:lnSpc>
              <a:buNone/>
            </a:pPr>
            <a:r>
              <a:rPr lang="en-US" sz="1300" dirty="0">
                <a:solidFill>
                  <a:srgbClr val="374151"/>
                </a:solidFill>
                <a:latin typeface="Calibri" pitchFamily="34" charset="0"/>
                <a:ea typeface="Calibri" pitchFamily="34" charset="-122"/>
                <a:cs typeface="Calibri" pitchFamily="34" charset="-120"/>
              </a:rPr>
              <a:t>The platform was developed against 15 functional requirements defined in the CST-451 Requirements Document. Eleven were delivered in full across three iterations; four were formally deferred to post-launch.</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765280" y="8686800"/>
          <a:ext cx="9387840" cy="914400"/>
        </p:xfrm>
        <a:graphic>
          <a:graphicData uri="http://schemas.openxmlformats.org/drawingml/2006/table">
            <a:tbl>
              <a:tblPr/>
              <a:tblGrid>
                <a:gridCol w="731520"/>
                <a:gridCol w="7559040"/>
                <a:gridCol w="109728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2E106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Requirement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2E106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2E1065"/>
                    </a:solidFill>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FR1</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Public website with inquiry form</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FR2</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Authentication &amp; registration (JWT, OAuth, MFA)</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FR3</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Client &amp; provider dashboards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FR4</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Dynamic five-step intake forms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FR5</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Real-time messaging (Socket.IO)</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FR6</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Appointment scheduling &amp; reminders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FR7</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Educational resource library</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FR8</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Daily check-ins with clinical alerts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FR9</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Provider client management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FR10</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Care plan system with milestones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57200">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FR11</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Blog platform with draft/publish</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57200">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FR12</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Digital journaling</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9CA3AF"/>
                          </a:solidFill>
                          <a:latin typeface="Calibri" pitchFamily="34" charset="0"/>
                          <a:ea typeface="Calibri" pitchFamily="34" charset="-122"/>
                          <a:cs typeface="Calibri" pitchFamily="34" charset="-120"/>
                        </a:rPr>
                        <a:t>Deferred</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57200">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FR13</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Daily insights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9CA3AF"/>
                          </a:solidFill>
                          <a:latin typeface="Calibri" pitchFamily="34" charset="0"/>
                          <a:ea typeface="Calibri" pitchFamily="34" charset="-122"/>
                          <a:cs typeface="Calibri" pitchFamily="34" charset="-120"/>
                        </a:rPr>
                        <a:t>Deferred</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57200">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FR14</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Sleep &amp; feeding trackers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9CA3AF"/>
                          </a:solidFill>
                          <a:latin typeface="Calibri" pitchFamily="34" charset="0"/>
                          <a:ea typeface="Calibri" pitchFamily="34" charset="-122"/>
                          <a:cs typeface="Calibri" pitchFamily="34" charset="-120"/>
                        </a:rPr>
                        <a:t>Deferred</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57200">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FR15</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l" indent="0" marL="0">
                        <a:buNone/>
                      </a:pPr>
                      <a:r>
                        <a:rPr lang="en-US" sz="1200" dirty="0">
                          <a:solidFill>
                            <a:srgbClr val="9CA3AF"/>
                          </a:solidFill>
                          <a:latin typeface="Calibri" pitchFamily="34" charset="0"/>
                          <a:ea typeface="Calibri" pitchFamily="34" charset="-122"/>
                          <a:cs typeface="Calibri" pitchFamily="34" charset="-120"/>
                        </a:rPr>
                        <a:t>AI-powered note summarization</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9CA3AF"/>
                          </a:solidFill>
                          <a:latin typeface="Calibri" pitchFamily="34" charset="0"/>
                          <a:ea typeface="Calibri" pitchFamily="34" charset="-122"/>
                          <a:cs typeface="Calibri" pitchFamily="34" charset="-120"/>
                        </a:rPr>
                        <a:t>Deferred</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bl>
          </a:graphicData>
        </a:graphic>
      </p:graphicFrame>
      <p:sp>
        <p:nvSpPr>
          <p:cNvPr id="21" name="Text 16"/>
          <p:cNvSpPr/>
          <p:nvPr/>
        </p:nvSpPr>
        <p:spPr>
          <a:xfrm>
            <a:off x="11856720" y="16824960"/>
            <a:ext cx="9204960" cy="731520"/>
          </a:xfrm>
          <a:prstGeom prst="rect">
            <a:avLst/>
          </a:prstGeom>
          <a:noFill/>
          <a:ln/>
        </p:spPr>
        <p:txBody>
          <a:bodyPr wrap="square" lIns="0" tIns="0" rIns="0" bIns="0" rtlCol="0" anchor="b"/>
          <a:lstStyle/>
          <a:p>
            <a:pPr indent="0" marL="0">
              <a:lnSpc>
                <a:spcPct val="120000"/>
              </a:lnSpc>
              <a:buNone/>
            </a:pPr>
            <a:r>
              <a:rPr lang="en-US" sz="1200" i="1" dirty="0">
                <a:solidFill>
                  <a:srgbClr val="6B7280"/>
                </a:solidFill>
                <a:latin typeface="Calibri" pitchFamily="34" charset="0"/>
                <a:ea typeface="Calibri" pitchFamily="34" charset="-122"/>
                <a:cs typeface="Calibri" pitchFamily="34" charset="-120"/>
              </a:rPr>
              <a:t>Standards: OWASP Top 10 security compliance, WCAG 2.1 AA accessibility, RESTful API design, Agile sprint-based delivery.</a:t>
            </a:r>
            <a:endParaRPr lang="en-US" sz="1200" dirty="0"/>
          </a:p>
        </p:txBody>
      </p:sp>
      <p:sp>
        <p:nvSpPr>
          <p:cNvPr id="22" name="Shape 17"/>
          <p:cNvSpPr/>
          <p:nvPr/>
        </p:nvSpPr>
        <p:spPr>
          <a:xfrm>
            <a:off x="11445240" y="18242280"/>
            <a:ext cx="10027920" cy="50292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sp>
        <p:nvSpPr>
          <p:cNvPr id="23" name="Text 18"/>
          <p:cNvSpPr/>
          <p:nvPr/>
        </p:nvSpPr>
        <p:spPr>
          <a:xfrm>
            <a:off x="11856720" y="18516600"/>
            <a:ext cx="9204960" cy="548640"/>
          </a:xfrm>
          <a:prstGeom prst="rect">
            <a:avLst/>
          </a:prstGeom>
          <a:noFill/>
          <a:ln/>
        </p:spPr>
        <p:txBody>
          <a:bodyPr wrap="square" lIns="0" tIns="0" rIns="0" bIns="0" rtlCol="0" anchor="ctr"/>
          <a:lstStyle/>
          <a:p>
            <a:pPr indent="0" marL="0">
              <a:buNone/>
            </a:pPr>
            <a:r>
              <a:rPr lang="en-US" sz="1900" b="1" spc="300" kern="0" dirty="0">
                <a:solidFill>
                  <a:srgbClr val="6D28D9"/>
                </a:solidFill>
                <a:latin typeface="Calibri" pitchFamily="34" charset="0"/>
                <a:ea typeface="Calibri" pitchFamily="34" charset="-122"/>
                <a:cs typeface="Calibri" pitchFamily="34" charset="-120"/>
              </a:rPr>
              <a:t>DESIGN PROCESS</a:t>
            </a:r>
            <a:endParaRPr lang="en-US" sz="1900" dirty="0"/>
          </a:p>
        </p:txBody>
      </p:sp>
      <p:sp>
        <p:nvSpPr>
          <p:cNvPr id="24" name="Text 19"/>
          <p:cNvSpPr/>
          <p:nvPr/>
        </p:nvSpPr>
        <p:spPr>
          <a:xfrm>
            <a:off x="11856720" y="19248120"/>
            <a:ext cx="9204960" cy="3749040"/>
          </a:xfrm>
          <a:prstGeom prst="rect">
            <a:avLst/>
          </a:prstGeom>
          <a:noFill/>
          <a:ln/>
        </p:spPr>
        <p:txBody>
          <a:bodyPr wrap="square" lIns="0" tIns="0" rIns="0" bIns="0" rtlCol="0" anchor="t"/>
          <a:lstStyle/>
          <a:p>
            <a:pPr indent="0" marL="0">
              <a:lnSpc>
                <a:spcPct val="130000"/>
              </a:lnSpc>
              <a:buNone/>
            </a:pPr>
            <a:r>
              <a:rPr lang="en-US" sz="1400" dirty="0">
                <a:solidFill>
                  <a:srgbClr val="374151"/>
                </a:solidFill>
                <a:latin typeface="Calibri" pitchFamily="34" charset="0"/>
                <a:ea typeface="Calibri" pitchFamily="34" charset="-122"/>
                <a:cs typeface="Calibri" pitchFamily="34" charset="-120"/>
              </a:rPr>
              <a:t>Development followed an iterative sprint-based process across three coding milestones. Each iteration cycle moved through a consistent pattern: define a scoped story objective, implement the backend route and service layer, build the frontend consumption layer and UI, integrate and validate in the running environment, and refine based on testability and usability constraints.</a:t>
            </a:r>
            <a:endParaRPr lang="en-US" sz="1400" dirty="0"/>
          </a:p>
          <a:p>
            <a:pPr indent="0" marL="0">
              <a:lnSpc>
                <a:spcPct val="130000"/>
              </a:lnSpc>
              <a:buNone/>
            </a:pPr>
            <a:endParaRPr lang="en-US" sz="1400" dirty="0"/>
          </a:p>
          <a:p>
            <a:pPr indent="0" marL="0">
              <a:lnSpc>
                <a:spcPct val="130000"/>
              </a:lnSpc>
              <a:buNone/>
            </a:pPr>
            <a:r>
              <a:rPr lang="en-US" sz="1400" dirty="0">
                <a:solidFill>
                  <a:srgbClr val="374151"/>
                </a:solidFill>
                <a:latin typeface="Calibri" pitchFamily="34" charset="0"/>
                <a:ea typeface="Calibri" pitchFamily="34" charset="-122"/>
                <a:cs typeface="Calibri" pitchFamily="34" charset="-120"/>
              </a:rPr>
              <a:t>Planning and task tracking were managed through GitHub Project Boards. All code changes went through a pull request workflow with peer review before merging. A GitHub Actions CI/CD pipeline ran the full automated test suite on every push, enforcing quality gates before deployment. The backend deployed to Render and the frontend to Vercel, with MongoDB Atlas as the managed database layer.</a:t>
            </a:r>
            <a:endParaRPr lang="en-US" sz="1400" dirty="0"/>
          </a:p>
        </p:txBody>
      </p:sp>
      <p:sp>
        <p:nvSpPr>
          <p:cNvPr id="25" name="Shape 20"/>
          <p:cNvSpPr/>
          <p:nvPr/>
        </p:nvSpPr>
        <p:spPr>
          <a:xfrm>
            <a:off x="11445240" y="23682960"/>
            <a:ext cx="10027920" cy="68580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sp>
        <p:nvSpPr>
          <p:cNvPr id="26" name="Text 21"/>
          <p:cNvSpPr/>
          <p:nvPr/>
        </p:nvSpPr>
        <p:spPr>
          <a:xfrm>
            <a:off x="11856720" y="23957280"/>
            <a:ext cx="9204960" cy="548640"/>
          </a:xfrm>
          <a:prstGeom prst="rect">
            <a:avLst/>
          </a:prstGeom>
          <a:noFill/>
          <a:ln/>
        </p:spPr>
        <p:txBody>
          <a:bodyPr wrap="square" lIns="0" tIns="0" rIns="0" bIns="0" rtlCol="0" anchor="ctr"/>
          <a:lstStyle/>
          <a:p>
            <a:pPr indent="0" marL="0">
              <a:buNone/>
            </a:pPr>
            <a:r>
              <a:rPr lang="en-US" sz="1900" b="1" spc="300" kern="0" dirty="0">
                <a:solidFill>
                  <a:srgbClr val="6D28D9"/>
                </a:solidFill>
                <a:latin typeface="Calibri" pitchFamily="34" charset="0"/>
                <a:ea typeface="Calibri" pitchFamily="34" charset="-122"/>
                <a:cs typeface="Calibri" pitchFamily="34" charset="-120"/>
              </a:rPr>
              <a:t>SYSTEM ARCHITECTURE</a:t>
            </a:r>
            <a:endParaRPr lang="en-US" sz="1900" dirty="0"/>
          </a:p>
        </p:txBody>
      </p:sp>
      <p:pic>
        <p:nvPicPr>
          <p:cNvPr id="27" name="Image 2" descr="/home/claude/lunara_architecture.png">    </p:cNvPr>
          <p:cNvPicPr>
            <a:picLocks noChangeAspect="1"/>
          </p:cNvPicPr>
          <p:nvPr/>
        </p:nvPicPr>
        <p:blipFill>
          <a:blip r:embed="rId3"/>
          <a:srcRect l="0" r="0" t="0" b="0"/>
          <a:stretch/>
        </p:blipFill>
        <p:spPr>
          <a:xfrm>
            <a:off x="11719560" y="24643080"/>
            <a:ext cx="9479280" cy="5669280"/>
          </a:xfrm>
          <a:prstGeom prst="rect">
            <a:avLst/>
          </a:prstGeom>
        </p:spPr>
      </p:pic>
      <p:sp>
        <p:nvSpPr>
          <p:cNvPr id="28" name="Shape 22"/>
          <p:cNvSpPr/>
          <p:nvPr/>
        </p:nvSpPr>
        <p:spPr>
          <a:xfrm>
            <a:off x="11445240" y="30952440"/>
            <a:ext cx="10027920" cy="59436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pic>
        <p:nvPicPr>
          <p:cNvPr id="29" name="Image 3" descr="/mnt/user-data/uploads/1774387851673_image.png">    </p:cNvPr>
          <p:cNvPicPr>
            <a:picLocks noChangeAspect="1"/>
          </p:cNvPicPr>
          <p:nvPr/>
        </p:nvPicPr>
        <p:blipFill>
          <a:blip r:embed="rId4"/>
          <a:srcRect l="0" r="0" t="0" b="0"/>
          <a:stretch/>
        </p:blipFill>
        <p:spPr>
          <a:xfrm>
            <a:off x="11719560" y="31226760"/>
            <a:ext cx="9479280" cy="5074920"/>
          </a:xfrm>
          <a:prstGeom prst="rect">
            <a:avLst/>
          </a:prstGeom>
        </p:spPr>
      </p:pic>
      <p:sp>
        <p:nvSpPr>
          <p:cNvPr id="30" name="Text 23"/>
          <p:cNvSpPr/>
          <p:nvPr/>
        </p:nvSpPr>
        <p:spPr>
          <a:xfrm>
            <a:off x="11719560" y="36393120"/>
            <a:ext cx="947928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Provider Dashboard — Client Management (FR9)</a:t>
            </a:r>
            <a:endParaRPr lang="en-US" sz="1100" dirty="0"/>
          </a:p>
        </p:txBody>
      </p:sp>
      <p:sp>
        <p:nvSpPr>
          <p:cNvPr id="31" name="Shape 24"/>
          <p:cNvSpPr/>
          <p:nvPr/>
        </p:nvSpPr>
        <p:spPr>
          <a:xfrm>
            <a:off x="21976080" y="6400800"/>
            <a:ext cx="10027920" cy="118872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sp>
        <p:nvSpPr>
          <p:cNvPr id="32" name="Text 25"/>
          <p:cNvSpPr/>
          <p:nvPr/>
        </p:nvSpPr>
        <p:spPr>
          <a:xfrm>
            <a:off x="22387560" y="6675120"/>
            <a:ext cx="9204960" cy="548640"/>
          </a:xfrm>
          <a:prstGeom prst="rect">
            <a:avLst/>
          </a:prstGeom>
          <a:noFill/>
          <a:ln/>
        </p:spPr>
        <p:txBody>
          <a:bodyPr wrap="square" lIns="0" tIns="0" rIns="0" bIns="0" rtlCol="0" anchor="ctr"/>
          <a:lstStyle/>
          <a:p>
            <a:pPr indent="0" marL="0">
              <a:buNone/>
            </a:pPr>
            <a:r>
              <a:rPr lang="en-US" sz="1900" b="1" spc="300" kern="0" dirty="0">
                <a:solidFill>
                  <a:srgbClr val="6D28D9"/>
                </a:solidFill>
                <a:latin typeface="Calibri" pitchFamily="34" charset="0"/>
                <a:ea typeface="Calibri" pitchFamily="34" charset="-122"/>
                <a:cs typeface="Calibri" pitchFamily="34" charset="-120"/>
              </a:rPr>
              <a:t>DATA SUMMARY: TESTING &amp; QUALITY</a:t>
            </a:r>
            <a:endParaRPr lang="en-US" sz="1900" dirty="0"/>
          </a:p>
        </p:txBody>
      </p:sp>
      <p:sp>
        <p:nvSpPr>
          <p:cNvPr id="33" name="Shape 26"/>
          <p:cNvSpPr/>
          <p:nvPr/>
        </p:nvSpPr>
        <p:spPr>
          <a:xfrm>
            <a:off x="22387560" y="7498080"/>
            <a:ext cx="2976880" cy="1828800"/>
          </a:xfrm>
          <a:prstGeom prst="rect">
            <a:avLst/>
          </a:prstGeom>
          <a:solidFill>
            <a:srgbClr val="EDE9FE"/>
          </a:solidFill>
          <a:ln/>
        </p:spPr>
      </p:sp>
      <p:sp>
        <p:nvSpPr>
          <p:cNvPr id="34" name="Text 27"/>
          <p:cNvSpPr/>
          <p:nvPr/>
        </p:nvSpPr>
        <p:spPr>
          <a:xfrm>
            <a:off x="22387560" y="7589520"/>
            <a:ext cx="2976880" cy="1005840"/>
          </a:xfrm>
          <a:prstGeom prst="rect">
            <a:avLst/>
          </a:prstGeom>
          <a:noFill/>
          <a:ln/>
        </p:spPr>
        <p:txBody>
          <a:bodyPr wrap="square" lIns="0" tIns="0" rIns="0" bIns="0" rtlCol="0" anchor="ctr"/>
          <a:lstStyle/>
          <a:p>
            <a:pPr algn="ctr" indent="0" marL="0">
              <a:buNone/>
            </a:pPr>
            <a:r>
              <a:rPr lang="en-US" sz="3600" b="1" dirty="0">
                <a:solidFill>
                  <a:srgbClr val="6D28D9"/>
                </a:solidFill>
                <a:latin typeface="Georgia" pitchFamily="34" charset="0"/>
                <a:ea typeface="Georgia" pitchFamily="34" charset="-122"/>
                <a:cs typeface="Georgia" pitchFamily="34" charset="-120"/>
              </a:rPr>
              <a:t>1,044</a:t>
            </a:r>
            <a:endParaRPr lang="en-US" sz="3600" dirty="0"/>
          </a:p>
        </p:txBody>
      </p:sp>
      <p:sp>
        <p:nvSpPr>
          <p:cNvPr id="35" name="Text 28"/>
          <p:cNvSpPr/>
          <p:nvPr/>
        </p:nvSpPr>
        <p:spPr>
          <a:xfrm>
            <a:off x="22387560" y="8503920"/>
            <a:ext cx="2976880" cy="7315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Automated</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Tests</a:t>
            </a:r>
            <a:endParaRPr lang="en-US" sz="1100" dirty="0"/>
          </a:p>
        </p:txBody>
      </p:sp>
      <p:sp>
        <p:nvSpPr>
          <p:cNvPr id="36" name="Shape 29"/>
          <p:cNvSpPr/>
          <p:nvPr/>
        </p:nvSpPr>
        <p:spPr>
          <a:xfrm>
            <a:off x="25455880" y="7498080"/>
            <a:ext cx="2976880" cy="1828800"/>
          </a:xfrm>
          <a:prstGeom prst="rect">
            <a:avLst/>
          </a:prstGeom>
          <a:solidFill>
            <a:srgbClr val="EDE9FE"/>
          </a:solidFill>
          <a:ln/>
        </p:spPr>
      </p:sp>
      <p:sp>
        <p:nvSpPr>
          <p:cNvPr id="37" name="Text 30"/>
          <p:cNvSpPr/>
          <p:nvPr/>
        </p:nvSpPr>
        <p:spPr>
          <a:xfrm>
            <a:off x="25455880" y="7589520"/>
            <a:ext cx="2976880" cy="1005840"/>
          </a:xfrm>
          <a:prstGeom prst="rect">
            <a:avLst/>
          </a:prstGeom>
          <a:noFill/>
          <a:ln/>
        </p:spPr>
        <p:txBody>
          <a:bodyPr wrap="square" lIns="0" tIns="0" rIns="0" bIns="0" rtlCol="0" anchor="ctr"/>
          <a:lstStyle/>
          <a:p>
            <a:pPr algn="ctr" indent="0" marL="0">
              <a:buNone/>
            </a:pPr>
            <a:r>
              <a:rPr lang="en-US" sz="3600" b="1" dirty="0">
                <a:solidFill>
                  <a:srgbClr val="059669"/>
                </a:solidFill>
                <a:latin typeface="Georgia" pitchFamily="34" charset="0"/>
                <a:ea typeface="Georgia" pitchFamily="34" charset="-122"/>
                <a:cs typeface="Georgia" pitchFamily="34" charset="-120"/>
              </a:rPr>
              <a:t>100%</a:t>
            </a:r>
            <a:endParaRPr lang="en-US" sz="3600" dirty="0"/>
          </a:p>
        </p:txBody>
      </p:sp>
      <p:sp>
        <p:nvSpPr>
          <p:cNvPr id="38" name="Text 31"/>
          <p:cNvSpPr/>
          <p:nvPr/>
        </p:nvSpPr>
        <p:spPr>
          <a:xfrm>
            <a:off x="25455880" y="8503920"/>
            <a:ext cx="2976880" cy="7315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Pass</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Rate</a:t>
            </a:r>
            <a:endParaRPr lang="en-US" sz="1100" dirty="0"/>
          </a:p>
        </p:txBody>
      </p:sp>
      <p:sp>
        <p:nvSpPr>
          <p:cNvPr id="39" name="Shape 32"/>
          <p:cNvSpPr/>
          <p:nvPr/>
        </p:nvSpPr>
        <p:spPr>
          <a:xfrm>
            <a:off x="28524200" y="7498080"/>
            <a:ext cx="2976880" cy="1828800"/>
          </a:xfrm>
          <a:prstGeom prst="rect">
            <a:avLst/>
          </a:prstGeom>
          <a:solidFill>
            <a:srgbClr val="EDE9FE"/>
          </a:solidFill>
          <a:ln/>
        </p:spPr>
      </p:sp>
      <p:sp>
        <p:nvSpPr>
          <p:cNvPr id="40" name="Text 33"/>
          <p:cNvSpPr/>
          <p:nvPr/>
        </p:nvSpPr>
        <p:spPr>
          <a:xfrm>
            <a:off x="28524200" y="7589520"/>
            <a:ext cx="2976880" cy="1005840"/>
          </a:xfrm>
          <a:prstGeom prst="rect">
            <a:avLst/>
          </a:prstGeom>
          <a:noFill/>
          <a:ln/>
        </p:spPr>
        <p:txBody>
          <a:bodyPr wrap="square" lIns="0" tIns="0" rIns="0" bIns="0" rtlCol="0" anchor="ctr"/>
          <a:lstStyle/>
          <a:p>
            <a:pPr algn="ctr" indent="0" marL="0">
              <a:buNone/>
            </a:pPr>
            <a:r>
              <a:rPr lang="en-US" sz="3600" b="1" dirty="0">
                <a:solidFill>
                  <a:srgbClr val="6D28D9"/>
                </a:solidFill>
                <a:latin typeface="Georgia" pitchFamily="34" charset="0"/>
                <a:ea typeface="Georgia" pitchFamily="34" charset="-122"/>
                <a:cs typeface="Georgia" pitchFamily="34" charset="-120"/>
              </a:rPr>
              <a:t>118</a:t>
            </a:r>
            <a:endParaRPr lang="en-US" sz="3600" dirty="0"/>
          </a:p>
        </p:txBody>
      </p:sp>
      <p:sp>
        <p:nvSpPr>
          <p:cNvPr id="41" name="Text 34"/>
          <p:cNvSpPr/>
          <p:nvPr/>
        </p:nvSpPr>
        <p:spPr>
          <a:xfrm>
            <a:off x="28524200" y="8503920"/>
            <a:ext cx="2976880" cy="7315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Test</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Suites</a:t>
            </a:r>
            <a:endParaRPr lang="en-US" sz="1100" dirty="0"/>
          </a:p>
        </p:txBody>
      </p:sp>
      <p:sp>
        <p:nvSpPr>
          <p:cNvPr id="42" name="Shape 35"/>
          <p:cNvSpPr/>
          <p:nvPr/>
        </p:nvSpPr>
        <p:spPr>
          <a:xfrm>
            <a:off x="22387560" y="9601200"/>
            <a:ext cx="4511040" cy="1828800"/>
          </a:xfrm>
          <a:prstGeom prst="rect">
            <a:avLst/>
          </a:prstGeom>
          <a:solidFill>
            <a:srgbClr val="EDE9FE"/>
          </a:solidFill>
          <a:ln/>
        </p:spPr>
      </p:sp>
      <p:sp>
        <p:nvSpPr>
          <p:cNvPr id="43" name="Text 36"/>
          <p:cNvSpPr/>
          <p:nvPr/>
        </p:nvSpPr>
        <p:spPr>
          <a:xfrm>
            <a:off x="22387560" y="9692640"/>
            <a:ext cx="4511040" cy="1005840"/>
          </a:xfrm>
          <a:prstGeom prst="rect">
            <a:avLst/>
          </a:prstGeom>
          <a:noFill/>
          <a:ln/>
        </p:spPr>
        <p:txBody>
          <a:bodyPr wrap="square" lIns="0" tIns="0" rIns="0" bIns="0" rtlCol="0" anchor="ctr"/>
          <a:lstStyle/>
          <a:p>
            <a:pPr algn="ctr" indent="0" marL="0">
              <a:buNone/>
            </a:pPr>
            <a:r>
              <a:rPr lang="en-US" sz="3600" b="1" dirty="0">
                <a:solidFill>
                  <a:srgbClr val="6D28D9"/>
                </a:solidFill>
                <a:latin typeface="Georgia" pitchFamily="34" charset="0"/>
                <a:ea typeface="Georgia" pitchFamily="34" charset="-122"/>
                <a:cs typeface="Georgia" pitchFamily="34" charset="-120"/>
              </a:rPr>
              <a:t>90.58%</a:t>
            </a:r>
            <a:endParaRPr lang="en-US" sz="3600" dirty="0"/>
          </a:p>
        </p:txBody>
      </p:sp>
      <p:sp>
        <p:nvSpPr>
          <p:cNvPr id="44" name="Text 37"/>
          <p:cNvSpPr/>
          <p:nvPr/>
        </p:nvSpPr>
        <p:spPr>
          <a:xfrm>
            <a:off x="22387560" y="10607040"/>
            <a:ext cx="4511040" cy="7315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Backend Statement</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Coverage</a:t>
            </a:r>
            <a:endParaRPr lang="en-US" sz="1100" dirty="0"/>
          </a:p>
        </p:txBody>
      </p:sp>
      <p:sp>
        <p:nvSpPr>
          <p:cNvPr id="45" name="Shape 38"/>
          <p:cNvSpPr/>
          <p:nvPr/>
        </p:nvSpPr>
        <p:spPr>
          <a:xfrm>
            <a:off x="26990040" y="9601200"/>
            <a:ext cx="4511040" cy="1828800"/>
          </a:xfrm>
          <a:prstGeom prst="rect">
            <a:avLst/>
          </a:prstGeom>
          <a:solidFill>
            <a:srgbClr val="EDE9FE"/>
          </a:solidFill>
          <a:ln/>
        </p:spPr>
      </p:sp>
      <p:sp>
        <p:nvSpPr>
          <p:cNvPr id="46" name="Text 39"/>
          <p:cNvSpPr/>
          <p:nvPr/>
        </p:nvSpPr>
        <p:spPr>
          <a:xfrm>
            <a:off x="26990040" y="9692640"/>
            <a:ext cx="4511040" cy="1005840"/>
          </a:xfrm>
          <a:prstGeom prst="rect">
            <a:avLst/>
          </a:prstGeom>
          <a:noFill/>
          <a:ln/>
        </p:spPr>
        <p:txBody>
          <a:bodyPr wrap="square" lIns="0" tIns="0" rIns="0" bIns="0" rtlCol="0" anchor="ctr"/>
          <a:lstStyle/>
          <a:p>
            <a:pPr algn="ctr" indent="0" marL="0">
              <a:buNone/>
            </a:pPr>
            <a:r>
              <a:rPr lang="en-US" sz="3600" b="1" dirty="0">
                <a:solidFill>
                  <a:srgbClr val="6D28D9"/>
                </a:solidFill>
                <a:latin typeface="Georgia" pitchFamily="34" charset="0"/>
                <a:ea typeface="Georgia" pitchFamily="34" charset="-122"/>
                <a:cs typeface="Georgia" pitchFamily="34" charset="-120"/>
              </a:rPr>
              <a:t>63.35%</a:t>
            </a:r>
            <a:endParaRPr lang="en-US" sz="3600" dirty="0"/>
          </a:p>
        </p:txBody>
      </p:sp>
      <p:sp>
        <p:nvSpPr>
          <p:cNvPr id="47" name="Text 40"/>
          <p:cNvSpPr/>
          <p:nvPr/>
        </p:nvSpPr>
        <p:spPr>
          <a:xfrm>
            <a:off x="26990040" y="10607040"/>
            <a:ext cx="4511040" cy="7315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Frontend Statement</a:t>
            </a:r>
            <a:endParaRPr lang="en-US" sz="1100" dirty="0"/>
          </a:p>
          <a:p>
            <a:pPr algn="ctr" indent="0" marL="0">
              <a:buNone/>
            </a:pPr>
            <a:r>
              <a:rPr lang="en-US" sz="1100" dirty="0">
                <a:solidFill>
                  <a:srgbClr val="6B7280"/>
                </a:solidFill>
                <a:latin typeface="Calibri" pitchFamily="34" charset="0"/>
                <a:ea typeface="Calibri" pitchFamily="34" charset="-122"/>
                <a:cs typeface="Calibri" pitchFamily="34" charset="-120"/>
              </a:rPr>
              <a:t>Coverage</a:t>
            </a:r>
            <a:endParaRPr lang="en-US" sz="11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22341840" y="11795760"/>
          <a:ext cx="9296400" cy="914400"/>
        </p:xfrm>
        <a:graphic>
          <a:graphicData uri="http://schemas.openxmlformats.org/drawingml/2006/table">
            <a:tbl>
              <a:tblPr/>
              <a:tblGrid>
                <a:gridCol w="7101840"/>
                <a:gridCol w="1097280"/>
                <a:gridCol w="1097280"/>
              </a:tblGrid>
              <a:tr h="43891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Test Category</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2E106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Suites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2E106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Tests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2E1065"/>
                    </a:solidFill>
                  </a:tcPr>
                </a:tc>
              </a:tr>
              <a:tr h="438912">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Backend Unit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38912">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Backend Integration</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38912">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Backend Services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38912">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Frontend Components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98</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715</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r h="438912">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E2E (Playwright)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tcPr>
                </a:tc>
              </a:tr>
              <a:tr h="438912">
                <a:tc>
                  <a:txBody>
                    <a:bodyPr/>
                    <a:lstStyle/>
                    <a:p>
                      <a:pPr algn="l" indent="0" marL="0">
                        <a:buNone/>
                      </a:pPr>
                      <a:r>
                        <a:rPr lang="en-US" sz="1200" dirty="0">
                          <a:solidFill>
                            <a:srgbClr val="374151"/>
                          </a:solidFill>
                          <a:latin typeface="Calibri" pitchFamily="34" charset="0"/>
                          <a:ea typeface="Calibri" pitchFamily="34" charset="-122"/>
                          <a:cs typeface="Calibri" pitchFamily="34" charset="-120"/>
                        </a:rPr>
                        <a:t>Manual Test Cases</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c>
                  <a:txBody>
                    <a:bodyPr/>
                    <a:lstStyle/>
                    <a:p>
                      <a:pPr algn="r" indent="0" marL="0">
                        <a:buNone/>
                      </a:pPr>
                      <a:r>
                        <a:rPr lang="en-US" sz="1200" dirty="0">
                          <a:solidFill>
                            <a:srgbClr val="374151"/>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6200" marR="76200" marT="38100" marB="38100" anchor="ctr">
                    <a:lnL w="6350" cap="flat" cmpd="sng" algn="ctr">
                      <a:solidFill>
                        <a:srgbClr val="DDD6FE"/>
                      </a:solidFill>
                      <a:prstDash val="solid"/>
                      <a:round/>
                      <a:headEnd type="none" w="med" len="med"/>
                      <a:tailEnd type="none" w="med" len="med"/>
                    </a:lnL>
                    <a:lnR w="6350" cap="flat" cmpd="sng" algn="ctr">
                      <a:solidFill>
                        <a:srgbClr val="DDD6FE"/>
                      </a:solidFill>
                      <a:prstDash val="solid"/>
                      <a:round/>
                      <a:headEnd type="none" w="med" len="med"/>
                      <a:tailEnd type="none" w="med" len="med"/>
                    </a:lnR>
                    <a:lnT w="6350" cap="flat" cmpd="sng" algn="ctr">
                      <a:solidFill>
                        <a:srgbClr val="DDD6FE"/>
                      </a:solidFill>
                      <a:prstDash val="solid"/>
                      <a:round/>
                      <a:headEnd type="none" w="med" len="med"/>
                      <a:tailEnd type="none" w="med" len="med"/>
                    </a:lnT>
                    <a:lnB w="6350" cap="flat" cmpd="sng" algn="ctr">
                      <a:solidFill>
                        <a:srgbClr val="DDD6FE"/>
                      </a:solidFill>
                      <a:prstDash val="solid"/>
                      <a:round/>
                      <a:headEnd type="none" w="med" len="med"/>
                      <a:tailEnd type="none" w="med" len="med"/>
                    </a:lnB>
                    <a:solidFill>
                      <a:srgbClr val="F5F3FF"/>
                    </a:solidFill>
                  </a:tcPr>
                </a:tc>
              </a:tr>
            </a:tbl>
          </a:graphicData>
        </a:graphic>
      </p:graphicFrame>
      <p:sp>
        <p:nvSpPr>
          <p:cNvPr id="49" name="Text 41"/>
          <p:cNvSpPr/>
          <p:nvPr/>
        </p:nvSpPr>
        <p:spPr>
          <a:xfrm>
            <a:off x="22387560" y="14996160"/>
            <a:ext cx="9204960" cy="640080"/>
          </a:xfrm>
          <a:prstGeom prst="rect">
            <a:avLst/>
          </a:prstGeom>
          <a:noFill/>
          <a:ln/>
        </p:spPr>
        <p:txBody>
          <a:bodyPr wrap="square" lIns="0" tIns="0" rIns="0" bIns="0" rtlCol="0" anchor="ctr"/>
          <a:lstStyle/>
          <a:p>
            <a:pPr indent="0" marL="0">
              <a:lnSpc>
                <a:spcPct val="120000"/>
              </a:lnSpc>
              <a:buNone/>
            </a:pPr>
            <a:r>
              <a:rPr lang="en-US" sz="1200" i="1" dirty="0">
                <a:solidFill>
                  <a:srgbClr val="6B7280"/>
                </a:solidFill>
                <a:latin typeface="Calibri" pitchFamily="34" charset="0"/>
                <a:ea typeface="Calibri" pitchFamily="34" charset="-122"/>
                <a:cs typeface="Calibri" pitchFamily="34" charset="-120"/>
              </a:rPr>
              <a:t>Zero open defects at submission. Full suite executes in 25.6 seconds. CI/CD pipeline enforces all quality gates on every push.</a:t>
            </a:r>
            <a:endParaRPr lang="en-US" sz="1200" dirty="0"/>
          </a:p>
        </p:txBody>
      </p:sp>
      <p:sp>
        <p:nvSpPr>
          <p:cNvPr id="50" name="Shape 42"/>
          <p:cNvSpPr/>
          <p:nvPr/>
        </p:nvSpPr>
        <p:spPr>
          <a:xfrm>
            <a:off x="21976080" y="18699480"/>
            <a:ext cx="10027920" cy="36576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sp>
        <p:nvSpPr>
          <p:cNvPr id="51" name="Text 43"/>
          <p:cNvSpPr/>
          <p:nvPr/>
        </p:nvSpPr>
        <p:spPr>
          <a:xfrm>
            <a:off x="22387560" y="18973800"/>
            <a:ext cx="9204960" cy="548640"/>
          </a:xfrm>
          <a:prstGeom prst="rect">
            <a:avLst/>
          </a:prstGeom>
          <a:noFill/>
          <a:ln/>
        </p:spPr>
        <p:txBody>
          <a:bodyPr wrap="square" lIns="0" tIns="0" rIns="0" bIns="0" rtlCol="0" anchor="ctr"/>
          <a:lstStyle/>
          <a:p>
            <a:pPr indent="0" marL="0">
              <a:buNone/>
            </a:pPr>
            <a:r>
              <a:rPr lang="en-US" sz="1900" b="1" spc="300" kern="0" dirty="0">
                <a:solidFill>
                  <a:srgbClr val="6D28D9"/>
                </a:solidFill>
                <a:latin typeface="Calibri" pitchFamily="34" charset="0"/>
                <a:ea typeface="Calibri" pitchFamily="34" charset="-122"/>
                <a:cs typeface="Calibri" pitchFamily="34" charset="-120"/>
              </a:rPr>
              <a:t>PROJECT SCOPE &amp; COMPLETION</a:t>
            </a:r>
            <a:endParaRPr lang="en-US" sz="1900" dirty="0"/>
          </a:p>
        </p:txBody>
      </p:sp>
      <p:sp>
        <p:nvSpPr>
          <p:cNvPr id="52" name="Text 44"/>
          <p:cNvSpPr/>
          <p:nvPr/>
        </p:nvSpPr>
        <p:spPr>
          <a:xfrm>
            <a:off x="22387560" y="19659600"/>
            <a:ext cx="9204960" cy="2468880"/>
          </a:xfrm>
          <a:prstGeom prst="rect">
            <a:avLst/>
          </a:prstGeom>
          <a:noFill/>
          <a:ln/>
        </p:spPr>
        <p:txBody>
          <a:bodyPr wrap="square" lIns="0" tIns="0" rIns="0" bIns="0" rtlCol="0" anchor="t"/>
          <a:lstStyle/>
          <a:p>
            <a:pPr indent="0" marL="0">
              <a:lnSpc>
                <a:spcPct val="130000"/>
              </a:lnSpc>
              <a:buNone/>
            </a:pPr>
            <a:r>
              <a:rPr lang="en-US" sz="1400" dirty="0">
                <a:solidFill>
                  <a:srgbClr val="374151"/>
                </a:solidFill>
                <a:latin typeface="Calibri" pitchFamily="34" charset="0"/>
                <a:ea typeface="Calibri" pitchFamily="34" charset="-122"/>
                <a:cs typeface="Calibri" pitchFamily="34" charset="-120"/>
              </a:rPr>
              <a:t>The requirements document defined 15 functional requirements. Across three development iterations, the team delivered 11 of 15 in full, reaching 73% overall project completion. The four deferred features (journaling, insights, trackers, AI summarization) were formally descoped after discussion with the instructor when core requirements consumed more integration effort than initially estimated. The modular architecture positions all deferred items for post-launch implementation without architectural changes.</a:t>
            </a:r>
            <a:endParaRPr lang="en-US" sz="1400" dirty="0"/>
          </a:p>
        </p:txBody>
      </p:sp>
      <p:sp>
        <p:nvSpPr>
          <p:cNvPr id="53" name="Shape 45"/>
          <p:cNvSpPr/>
          <p:nvPr/>
        </p:nvSpPr>
        <p:spPr>
          <a:xfrm>
            <a:off x="21976080" y="22768560"/>
            <a:ext cx="10027920" cy="27432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sp>
        <p:nvSpPr>
          <p:cNvPr id="54" name="Text 46"/>
          <p:cNvSpPr/>
          <p:nvPr/>
        </p:nvSpPr>
        <p:spPr>
          <a:xfrm>
            <a:off x="22387560" y="23042880"/>
            <a:ext cx="9204960" cy="548640"/>
          </a:xfrm>
          <a:prstGeom prst="rect">
            <a:avLst/>
          </a:prstGeom>
          <a:noFill/>
          <a:ln/>
        </p:spPr>
        <p:txBody>
          <a:bodyPr wrap="square" lIns="0" tIns="0" rIns="0" bIns="0" rtlCol="0" anchor="ctr"/>
          <a:lstStyle/>
          <a:p>
            <a:pPr indent="0" marL="0">
              <a:buNone/>
            </a:pPr>
            <a:r>
              <a:rPr lang="en-US" sz="1900" b="1" spc="300" kern="0" dirty="0">
                <a:solidFill>
                  <a:srgbClr val="6D28D9"/>
                </a:solidFill>
                <a:latin typeface="Calibri" pitchFamily="34" charset="0"/>
                <a:ea typeface="Calibri" pitchFamily="34" charset="-122"/>
                <a:cs typeface="Calibri" pitchFamily="34" charset="-120"/>
              </a:rPr>
              <a:t>FUTURE WORK</a:t>
            </a:r>
            <a:endParaRPr lang="en-US" sz="1900" dirty="0"/>
          </a:p>
        </p:txBody>
      </p:sp>
      <p:sp>
        <p:nvSpPr>
          <p:cNvPr id="55" name="Text 47"/>
          <p:cNvSpPr/>
          <p:nvPr/>
        </p:nvSpPr>
        <p:spPr>
          <a:xfrm>
            <a:off x="22387560" y="23728680"/>
            <a:ext cx="9204960" cy="1554480"/>
          </a:xfrm>
          <a:prstGeom prst="rect">
            <a:avLst/>
          </a:prstGeom>
          <a:noFill/>
          <a:ln/>
        </p:spPr>
        <p:txBody>
          <a:bodyPr wrap="square" lIns="0" tIns="0" rIns="0" bIns="0" rtlCol="0" anchor="t"/>
          <a:lstStyle/>
          <a:p>
            <a:pPr indent="0" marL="0">
              <a:lnSpc>
                <a:spcPct val="130000"/>
              </a:lnSpc>
              <a:buNone/>
            </a:pPr>
            <a:r>
              <a:rPr lang="en-US" sz="1400" dirty="0">
                <a:solidFill>
                  <a:srgbClr val="374151"/>
                </a:solidFill>
                <a:latin typeface="Calibri" pitchFamily="34" charset="0"/>
                <a:ea typeface="Calibri" pitchFamily="34" charset="-122"/>
                <a:cs typeface="Calibri" pitchFamily="34" charset="-120"/>
              </a:rPr>
              <a:t>Near-term priorities include beta user recruitment to validate clinical workflows with real doula–client pairs and payment processing integration. Longer-term goals include a Progressive Web App for mobile access, AI-powered session note summarization, and the sleep and feeding tracker modules.</a:t>
            </a:r>
            <a:endParaRPr lang="en-US" sz="1400" dirty="0"/>
          </a:p>
        </p:txBody>
      </p:sp>
      <p:sp>
        <p:nvSpPr>
          <p:cNvPr id="56" name="Shape 48"/>
          <p:cNvSpPr/>
          <p:nvPr/>
        </p:nvSpPr>
        <p:spPr>
          <a:xfrm>
            <a:off x="21976080" y="25923240"/>
            <a:ext cx="10027920" cy="7772400"/>
          </a:xfrm>
          <a:prstGeom prst="rect">
            <a:avLst/>
          </a:prstGeom>
          <a:solidFill>
            <a:srgbClr val="FFFFFF"/>
          </a:solidFill>
          <a:ln w="6350">
            <a:solidFill>
              <a:srgbClr val="DDD6FE"/>
            </a:solidFill>
            <a:prstDash val="solid"/>
          </a:ln>
          <a:effectLst>
            <a:outerShdw sx="100000" sy="100000" kx="0" ky="0" algn="bl" rotWithShape="0" blurRad="76200" dist="19050" dir="8100000">
              <a:srgbClr val="000000">
                <a:alpha val="6000"/>
              </a:srgbClr>
            </a:outerShdw>
          </a:effectLst>
        </p:spPr>
      </p:sp>
      <p:pic>
        <p:nvPicPr>
          <p:cNvPr id="57" name="Image 4" descr="/mnt/user-data/uploads/1774387996994_image.png">    </p:cNvPr>
          <p:cNvPicPr>
            <a:picLocks noChangeAspect="1"/>
          </p:cNvPicPr>
          <p:nvPr/>
        </p:nvPicPr>
        <p:blipFill>
          <a:blip r:embed="rId5"/>
          <a:srcRect l="0" r="0" t="0" b="0"/>
          <a:stretch/>
        </p:blipFill>
        <p:spPr>
          <a:xfrm>
            <a:off x="22250400" y="26197560"/>
            <a:ext cx="9479280" cy="6903720"/>
          </a:xfrm>
          <a:prstGeom prst="rect">
            <a:avLst/>
          </a:prstGeom>
        </p:spPr>
      </p:pic>
      <p:sp>
        <p:nvSpPr>
          <p:cNvPr id="58" name="Text 49"/>
          <p:cNvSpPr/>
          <p:nvPr/>
        </p:nvSpPr>
        <p:spPr>
          <a:xfrm>
            <a:off x="22250400" y="33192720"/>
            <a:ext cx="9479280" cy="365760"/>
          </a:xfrm>
          <a:prstGeom prst="rect">
            <a:avLst/>
          </a:prstGeom>
          <a:noFill/>
          <a:ln/>
        </p:spPr>
        <p:txBody>
          <a:bodyPr wrap="square" lIns="0" tIns="0" rIns="0" bIns="0"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Real-Time Messaging — Client–Provider Chat (FR5)</a:t>
            </a:r>
            <a:endParaRPr lang="en-US" sz="1100" dirty="0"/>
          </a:p>
        </p:txBody>
      </p:sp>
      <p:sp>
        <p:nvSpPr>
          <p:cNvPr id="59" name="Shape 50"/>
          <p:cNvSpPr/>
          <p:nvPr/>
        </p:nvSpPr>
        <p:spPr>
          <a:xfrm>
            <a:off x="0" y="36393120"/>
            <a:ext cx="32918400" cy="2560320"/>
          </a:xfrm>
          <a:prstGeom prst="rect">
            <a:avLst/>
          </a:prstGeom>
          <a:solidFill>
            <a:srgbClr val="3B2667"/>
          </a:solidFill>
          <a:ln/>
        </p:spPr>
      </p:sp>
      <p:sp>
        <p:nvSpPr>
          <p:cNvPr id="60" name="Text 51"/>
          <p:cNvSpPr/>
          <p:nvPr/>
        </p:nvSpPr>
        <p:spPr>
          <a:xfrm>
            <a:off x="2743200" y="36713160"/>
            <a:ext cx="10972800" cy="640080"/>
          </a:xfrm>
          <a:prstGeom prst="rect">
            <a:avLst/>
          </a:prstGeom>
          <a:noFill/>
          <a:ln/>
        </p:spPr>
        <p:txBody>
          <a:bodyPr wrap="square" lIns="0" tIns="0" rIns="0" bIns="0" rtlCol="0" anchor="ctr"/>
          <a:lstStyle/>
          <a:p>
            <a:pPr algn="r" indent="0" marL="0">
              <a:buNone/>
            </a:pPr>
            <a:r>
              <a:rPr lang="en-US" sz="2800" b="1" spc="500" kern="0" dirty="0">
                <a:solidFill>
                  <a:srgbClr val="FFFFFF"/>
                </a:solidFill>
                <a:latin typeface="Calibri" pitchFamily="34" charset="0"/>
                <a:ea typeface="Calibri" pitchFamily="34" charset="-122"/>
                <a:cs typeface="Calibri" pitchFamily="34" charset="-120"/>
              </a:rPr>
              <a:t>VISIT THE SITE</a:t>
            </a:r>
            <a:endParaRPr lang="en-US" sz="2800" dirty="0"/>
          </a:p>
        </p:txBody>
      </p:sp>
      <p:sp>
        <p:nvSpPr>
          <p:cNvPr id="61" name="Text 52"/>
          <p:cNvSpPr/>
          <p:nvPr/>
        </p:nvSpPr>
        <p:spPr>
          <a:xfrm>
            <a:off x="2743200" y="37444680"/>
            <a:ext cx="10972800" cy="457200"/>
          </a:xfrm>
          <a:prstGeom prst="rect">
            <a:avLst/>
          </a:prstGeom>
          <a:noFill/>
          <a:ln/>
        </p:spPr>
        <p:txBody>
          <a:bodyPr wrap="square" lIns="0" tIns="0" rIns="0" bIns="0" rtlCol="0" anchor="ctr"/>
          <a:lstStyle/>
          <a:p>
            <a:pPr algn="r" indent="0" marL="0">
              <a:buNone/>
            </a:pPr>
            <a:r>
              <a:rPr lang="en-US" sz="1600" i="1" dirty="0">
                <a:solidFill>
                  <a:srgbClr val="C4B5FD"/>
                </a:solidFill>
                <a:latin typeface="Calibri" pitchFamily="34" charset="0"/>
                <a:ea typeface="Calibri" pitchFamily="34" charset="-122"/>
                <a:cs typeface="Calibri" pitchFamily="34" charset="-120"/>
              </a:rPr>
              <a:t>Scan to explore the live platform</a:t>
            </a:r>
            <a:endParaRPr lang="en-US" sz="1600" dirty="0"/>
          </a:p>
        </p:txBody>
      </p:sp>
      <p:sp>
        <p:nvSpPr>
          <p:cNvPr id="62" name="Text 53"/>
          <p:cNvSpPr/>
          <p:nvPr/>
        </p:nvSpPr>
        <p:spPr>
          <a:xfrm>
            <a:off x="2743200" y="37947600"/>
            <a:ext cx="10972800" cy="457200"/>
          </a:xfrm>
          <a:prstGeom prst="rect">
            <a:avLst/>
          </a:prstGeom>
          <a:noFill/>
          <a:ln/>
        </p:spPr>
        <p:txBody>
          <a:bodyPr wrap="square" lIns="0" tIns="0" rIns="0" bIns="0" rtlCol="0" anchor="ctr"/>
          <a:lstStyle/>
          <a:p>
            <a:pPr algn="r" indent="0" marL="0">
              <a:buNone/>
            </a:pPr>
            <a:r>
              <a:rPr lang="en-US" sz="1500" dirty="0">
                <a:solidFill>
                  <a:srgbClr val="C4B5FD"/>
                </a:solidFill>
                <a:latin typeface="Calibri" pitchFamily="34" charset="0"/>
                <a:ea typeface="Calibri" pitchFamily="34" charset="-122"/>
                <a:cs typeface="Calibri" pitchFamily="34" charset="-120"/>
              </a:rPr>
              <a:t>lunaracare.org</a:t>
            </a:r>
            <a:endParaRPr lang="en-US" sz="1500" dirty="0"/>
          </a:p>
        </p:txBody>
      </p:sp>
      <p:pic>
        <p:nvPicPr>
          <p:cNvPr id="63" name="Image 5" descr="/mnt/user-data/uploads/qr-code.png">    </p:cNvPr>
          <p:cNvPicPr>
            <a:picLocks noChangeAspect="1"/>
          </p:cNvPicPr>
          <p:nvPr/>
        </p:nvPicPr>
        <p:blipFill>
          <a:blip r:embed="rId6"/>
          <a:srcRect l="0" r="0" t="0" b="0"/>
          <a:stretch/>
        </p:blipFill>
        <p:spPr>
          <a:xfrm>
            <a:off x="15087600" y="36576000"/>
            <a:ext cx="2194560" cy="2194560"/>
          </a:xfrm>
          <a:prstGeom prst="rect">
            <a:avLst/>
          </a:prstGeom>
        </p:spPr>
      </p:pic>
      <p:sp>
        <p:nvSpPr>
          <p:cNvPr id="64" name="Text 54"/>
          <p:cNvSpPr/>
          <p:nvPr/>
        </p:nvSpPr>
        <p:spPr>
          <a:xfrm>
            <a:off x="18288000" y="37216080"/>
            <a:ext cx="10972800" cy="457200"/>
          </a:xfrm>
          <a:prstGeom prst="rect">
            <a:avLst/>
          </a:prstGeom>
          <a:noFill/>
          <a:ln/>
        </p:spPr>
        <p:txBody>
          <a:bodyPr wrap="square" lIns="0" tIns="0" rIns="0" bIns="0" rtlCol="0" anchor="ctr"/>
          <a:lstStyle/>
          <a:p>
            <a:pPr algn="l" indent="0" marL="0">
              <a:buNone/>
            </a:pPr>
            <a:r>
              <a:rPr lang="en-US" sz="1500" dirty="0">
                <a:solidFill>
                  <a:srgbClr val="C4B5FD"/>
                </a:solidFill>
                <a:latin typeface="Calibri" pitchFamily="34" charset="0"/>
                <a:ea typeface="Calibri" pitchFamily="34" charset="-122"/>
                <a:cs typeface="Calibri" pitchFamily="34" charset="-120"/>
              </a:rPr>
              <a:t>github.com/omniV1/AQC</a:t>
            </a:r>
            <a:endParaRPr lang="en-US" sz="1500" dirty="0"/>
          </a:p>
        </p:txBody>
      </p:sp>
      <p:sp>
        <p:nvSpPr>
          <p:cNvPr id="65" name="Text 55"/>
          <p:cNvSpPr/>
          <p:nvPr/>
        </p:nvSpPr>
        <p:spPr>
          <a:xfrm>
            <a:off x="18288000" y="37719000"/>
            <a:ext cx="10972800" cy="457200"/>
          </a:xfrm>
          <a:prstGeom prst="rect">
            <a:avLst/>
          </a:prstGeom>
          <a:noFill/>
          <a:ln/>
        </p:spPr>
        <p:txBody>
          <a:bodyPr wrap="square" lIns="0" tIns="0" rIns="0" bIns="0" rtlCol="0" anchor="ctr"/>
          <a:lstStyle/>
          <a:p>
            <a:pPr algn="l" indent="0" marL="0">
              <a:buNone/>
            </a:pPr>
            <a:r>
              <a:rPr lang="en-US" sz="1300" i="1" dirty="0">
                <a:solidFill>
                  <a:srgbClr val="9CA3AF"/>
                </a:solidFill>
                <a:latin typeface="Calibri" pitchFamily="34" charset="0"/>
                <a:ea typeface="Calibri" pitchFamily="34" charset="-122"/>
                <a:cs typeface="Calibri" pitchFamily="34" charset="-120"/>
              </a:rPr>
              <a:t>Source Code Repository</a:t>
            </a:r>
            <a:endParaRPr lang="en-US" sz="1300" dirty="0"/>
          </a:p>
        </p:txBody>
      </p:sp>
      <p:sp>
        <p:nvSpPr>
          <p:cNvPr id="66" name="Shape 56"/>
          <p:cNvSpPr/>
          <p:nvPr/>
        </p:nvSpPr>
        <p:spPr>
          <a:xfrm>
            <a:off x="0" y="38953440"/>
            <a:ext cx="32918400" cy="4937760"/>
          </a:xfrm>
          <a:prstGeom prst="rect">
            <a:avLst/>
          </a:prstGeom>
          <a:solidFill>
            <a:srgbClr val="1E1B3A"/>
          </a:solidFill>
          <a:ln/>
        </p:spPr>
      </p:sp>
      <p:sp>
        <p:nvSpPr>
          <p:cNvPr id="67" name="Text 57"/>
          <p:cNvSpPr/>
          <p:nvPr/>
        </p:nvSpPr>
        <p:spPr>
          <a:xfrm>
            <a:off x="1097280" y="39410640"/>
            <a:ext cx="12801600" cy="4023360"/>
          </a:xfrm>
          <a:prstGeom prst="rect">
            <a:avLst/>
          </a:prstGeom>
          <a:noFill/>
          <a:ln/>
        </p:spPr>
        <p:txBody>
          <a:bodyPr wrap="square" lIns="0" tIns="0" rIns="0" bIns="0" rtlCol="0" anchor="ctr"/>
          <a:lstStyle/>
          <a:p>
            <a:pPr indent="0" marL="0">
              <a:lnSpc>
                <a:spcPct val="150000"/>
              </a:lnSpc>
              <a:buNone/>
            </a:pPr>
            <a:r>
              <a:rPr lang="en-US" sz="1800" b="1" dirty="0">
                <a:solidFill>
                  <a:srgbClr val="FFFFFF"/>
                </a:solidFill>
                <a:latin typeface="Calibri" pitchFamily="34" charset="0"/>
                <a:ea typeface="Calibri" pitchFamily="34" charset="-122"/>
                <a:cs typeface="Calibri" pitchFamily="34" charset="-120"/>
              </a:rPr>
              <a:t>Owen Lindsey</a:t>
            </a:r>
            <a:pPr indent="0" marL="0">
              <a:lnSpc>
                <a:spcPct val="150000"/>
              </a:lnSpc>
              <a:buNone/>
            </a:pPr>
            <a:r>
              <a:rPr lang="en-US" sz="1800" dirty="0">
                <a:solidFill>
                  <a:srgbClr val="C4B5FD"/>
                </a:solidFill>
                <a:latin typeface="Calibri" pitchFamily="34" charset="0"/>
                <a:ea typeface="Calibri" pitchFamily="34" charset="-122"/>
                <a:cs typeface="Calibri" pitchFamily="34" charset="-120"/>
              </a:rPr>
              <a:t>  Full-Stack Developer
</a:t>
            </a:r>
            <a:endParaRPr lang="en-US" sz="1800" dirty="0"/>
          </a:p>
          <a:p>
            <a:pPr indent="0" marL="0">
              <a:lnSpc>
                <a:spcPct val="150000"/>
              </a:lnSpc>
              <a:buNone/>
            </a:pPr>
            <a:r>
              <a:rPr lang="en-US" sz="1800" b="1" dirty="0">
                <a:solidFill>
                  <a:srgbClr val="FFFFFF"/>
                </a:solidFill>
                <a:latin typeface="Calibri" pitchFamily="34" charset="0"/>
                <a:ea typeface="Calibri" pitchFamily="34" charset="-122"/>
                <a:cs typeface="Calibri" pitchFamily="34" charset="-120"/>
              </a:rPr>
              <a:t>Carter Wright</a:t>
            </a:r>
            <a:pPr indent="0" marL="0">
              <a:lnSpc>
                <a:spcPct val="150000"/>
              </a:lnSpc>
              <a:buNone/>
            </a:pPr>
            <a:r>
              <a:rPr lang="en-US" sz="1800" dirty="0">
                <a:solidFill>
                  <a:srgbClr val="C4B5FD"/>
                </a:solidFill>
                <a:latin typeface="Calibri" pitchFamily="34" charset="0"/>
                <a:ea typeface="Calibri" pitchFamily="34" charset="-122"/>
                <a:cs typeface="Calibri" pitchFamily="34" charset="-120"/>
              </a:rPr>
              <a:t>  Full-Stack Developer
</a:t>
            </a:r>
            <a:endParaRPr lang="en-US" sz="1800" dirty="0"/>
          </a:p>
          <a:p>
            <a:pPr indent="0" marL="0">
              <a:lnSpc>
                <a:spcPct val="150000"/>
              </a:lnSpc>
              <a:buNone/>
            </a:pPr>
            <a:r>
              <a:rPr lang="en-US" sz="1800" b="1" dirty="0">
                <a:solidFill>
                  <a:srgbClr val="FFFFFF"/>
                </a:solidFill>
                <a:latin typeface="Calibri" pitchFamily="34" charset="0"/>
                <a:ea typeface="Calibri" pitchFamily="34" charset="-122"/>
                <a:cs typeface="Calibri" pitchFamily="34" charset="-120"/>
              </a:rPr>
              <a:t>Andrew Mack</a:t>
            </a:r>
            <a:pPr indent="0" marL="0">
              <a:lnSpc>
                <a:spcPct val="150000"/>
              </a:lnSpc>
              <a:buNone/>
            </a:pPr>
            <a:r>
              <a:rPr lang="en-US" sz="1800" dirty="0">
                <a:solidFill>
                  <a:srgbClr val="C4B5FD"/>
                </a:solidFill>
                <a:latin typeface="Calibri" pitchFamily="34" charset="0"/>
                <a:ea typeface="Calibri" pitchFamily="34" charset="-122"/>
                <a:cs typeface="Calibri" pitchFamily="34" charset="-120"/>
              </a:rPr>
              <a:t>  Full-Stack Developer</a:t>
            </a:r>
            <a:endParaRPr lang="en-US" sz="1800" dirty="0"/>
          </a:p>
        </p:txBody>
      </p:sp>
      <p:sp>
        <p:nvSpPr>
          <p:cNvPr id="68" name="Text 58"/>
          <p:cNvSpPr/>
          <p:nvPr/>
        </p:nvSpPr>
        <p:spPr>
          <a:xfrm>
            <a:off x="13716000" y="39410640"/>
            <a:ext cx="10972800" cy="4023360"/>
          </a:xfrm>
          <a:prstGeom prst="rect">
            <a:avLst/>
          </a:prstGeom>
          <a:noFill/>
          <a:ln/>
        </p:spPr>
        <p:txBody>
          <a:bodyPr wrap="square" lIns="0" tIns="0" rIns="0" bIns="0" rtlCol="0" anchor="ctr"/>
          <a:lstStyle/>
          <a:p>
            <a:pPr algn="ctr" indent="0" marL="0">
              <a:lnSpc>
                <a:spcPct val="150000"/>
              </a:lnSpc>
              <a:buNone/>
            </a:pPr>
            <a:r>
              <a:rPr lang="en-US" sz="1600" dirty="0">
                <a:solidFill>
                  <a:srgbClr val="FFFFFF"/>
                </a:solidFill>
                <a:latin typeface="Calibri" pitchFamily="34" charset="0"/>
                <a:ea typeface="Calibri" pitchFamily="34" charset="-122"/>
                <a:cs typeface="Calibri" pitchFamily="34" charset="-120"/>
              </a:rPr>
              <a:t>Advisor: Professor Amr Elchouemi
</a:t>
            </a:r>
            <a:endParaRPr lang="en-US" sz="1600" dirty="0"/>
          </a:p>
          <a:p>
            <a:pPr algn="ctr" indent="0" marL="0">
              <a:lnSpc>
                <a:spcPct val="150000"/>
              </a:lnSpc>
              <a:buNone/>
            </a:pPr>
            <a:r>
              <a:rPr lang="en-US" sz="1600" dirty="0">
                <a:solidFill>
                  <a:srgbClr val="C4B5FD"/>
                </a:solidFill>
                <a:latin typeface="Calibri" pitchFamily="34" charset="0"/>
                <a:ea typeface="Calibri" pitchFamily="34" charset="-122"/>
                <a:cs typeface="Calibri" pitchFamily="34" charset="-120"/>
              </a:rPr>
              <a:t>CST-452: Senior Capstone Project II</a:t>
            </a:r>
            <a:endParaRPr lang="en-US" sz="1600" dirty="0"/>
          </a:p>
        </p:txBody>
      </p:sp>
      <p:pic>
        <p:nvPicPr>
          <p:cNvPr id="69" name="Image 6" descr="/home/claude/gcu_logo_hires.png">    </p:cNvPr>
          <p:cNvPicPr>
            <a:picLocks noChangeAspect="1"/>
          </p:cNvPicPr>
          <p:nvPr/>
        </p:nvPicPr>
        <p:blipFill>
          <a:blip r:embed="rId7"/>
          <a:srcRect l="0" r="0" t="0" b="0"/>
          <a:stretch/>
        </p:blipFill>
        <p:spPr>
          <a:xfrm>
            <a:off x="27889200" y="39227760"/>
            <a:ext cx="4389120" cy="4389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LUNARA: A Postpartum Support Platform</dc:title>
  <dc:subject>PptxGenJS Presentation</dc:subject>
  <dc:creator>Owen Lindsey, Carter Wright, Andrew Mack</dc:creator>
  <cp:lastModifiedBy>Owen Lindsey, Carter Wright, Andrew Mack</cp:lastModifiedBy>
  <cp:revision>1</cp:revision>
  <dcterms:created xsi:type="dcterms:W3CDTF">2026-03-28T16:09:50Z</dcterms:created>
  <dcterms:modified xsi:type="dcterms:W3CDTF">2026-03-28T16:09:50Z</dcterms:modified>
</cp:coreProperties>
</file>